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7f0367fcf40fa" /><Relationship Type="http://schemas.openxmlformats.org/officeDocument/2006/relationships/extended-properties" Target="/docProps/app.xml" Id="R0b08f92b2d664210" /><Relationship Type="http://schemas.openxmlformats.org/officeDocument/2006/relationships/officeDocument" Target="/ppt/presentation.xml" Id="R16c039a49fbf45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5822b345b04ae3"/>
  </p:sldMasterIdLst>
  <p:notesMasterIdLst>
    <p:notesMasterId xmlns:r="http://schemas.openxmlformats.org/officeDocument/2006/relationships" r:id="R37c5bd46cc3344ce"/>
  </p:notesMasterIdLst>
  <p:sldIdLst>
    <p:sldId xmlns:r="http://schemas.openxmlformats.org/officeDocument/2006/relationships" id="256" r:id="R3d2c92ed085f400d"/>
    <p:sldId xmlns:r="http://schemas.openxmlformats.org/officeDocument/2006/relationships" id="257" r:id="R2e511385f91e4ad0"/>
    <p:sldId xmlns:r="http://schemas.openxmlformats.org/officeDocument/2006/relationships" id="258" r:id="R01bb0bb712ac4415"/>
    <p:sldId xmlns:r="http://schemas.openxmlformats.org/officeDocument/2006/relationships" id="259" r:id="R654a9b6b8b0a43ae"/>
    <p:sldId xmlns:r="http://schemas.openxmlformats.org/officeDocument/2006/relationships" id="260" r:id="R037219a335234eeb"/>
    <p:sldId xmlns:r="http://schemas.openxmlformats.org/officeDocument/2006/relationships" id="261" r:id="R1272ed5d19c14ae9"/>
    <p:sldId xmlns:r="http://schemas.openxmlformats.org/officeDocument/2006/relationships" id="262" r:id="Rf2c7d67df16244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822b345b04ae3" /><Relationship Type="http://schemas.openxmlformats.org/officeDocument/2006/relationships/theme" Target="/ppt/theme/theme1.xml" Id="R1751319b1b8d4bee" /><Relationship Type="http://schemas.openxmlformats.org/officeDocument/2006/relationships/notesMaster" Target="/ppt/notesMasters/notesMaster1.xml" Id="R37c5bd46cc3344ce" /><Relationship Type="http://schemas.openxmlformats.org/officeDocument/2006/relationships/presProps" Target="/ppt/presProps.xml" Id="R48799b23dd174543" /><Relationship Type="http://schemas.openxmlformats.org/officeDocument/2006/relationships/viewProps" Target="/ppt/viewProps.xml" Id="Rb7daa89388f94726" /><Relationship Type="http://schemas.openxmlformats.org/officeDocument/2006/relationships/tableStyles" Target="/ppt/tableStyles.xml" Id="R7918c4300a7b4c3a" /><Relationship Type="http://schemas.openxmlformats.org/officeDocument/2006/relationships/slide" Target="/ppt/slides/slide1.xml" Id="R3d2c92ed085f400d" /><Relationship Type="http://schemas.openxmlformats.org/officeDocument/2006/relationships/slide" Target="/ppt/slides/slide2.xml" Id="R2e511385f91e4ad0" /><Relationship Type="http://schemas.openxmlformats.org/officeDocument/2006/relationships/slide" Target="/ppt/slides/slide3.xml" Id="R01bb0bb712ac4415" /><Relationship Type="http://schemas.openxmlformats.org/officeDocument/2006/relationships/slide" Target="/ppt/slides/slide4.xml" Id="R654a9b6b8b0a43ae" /><Relationship Type="http://schemas.openxmlformats.org/officeDocument/2006/relationships/slide" Target="/ppt/slides/slide5.xml" Id="R037219a335234eeb" /><Relationship Type="http://schemas.openxmlformats.org/officeDocument/2006/relationships/slide" Target="/ppt/slides/slide6.xml" Id="R1272ed5d19c14ae9" /><Relationship Type="http://schemas.openxmlformats.org/officeDocument/2006/relationships/slide" Target="/ppt/slides/slide7.xml" Id="Rf2c7d67df162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375a24d287045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d60550c4374303" /><Relationship Type="http://schemas.openxmlformats.org/officeDocument/2006/relationships/notesMaster" Target="/ppt/notesMasters/notesMaster1.xml" Id="R0a966d015e1448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fcbde9ab694842" /><Relationship Type="http://schemas.openxmlformats.org/officeDocument/2006/relationships/notesMaster" Target="/ppt/notesMasters/notesMaster1.xml" Id="R005f9087ccd342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351f72123f4d35" /><Relationship Type="http://schemas.openxmlformats.org/officeDocument/2006/relationships/notesMaster" Target="/ppt/notesMasters/notesMaster1.xml" Id="Rf609767b5f9b41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57636d0c341cf" /><Relationship Type="http://schemas.openxmlformats.org/officeDocument/2006/relationships/notesMaster" Target="/ppt/notesMasters/notesMaster1.xml" Id="R32d0586ba50645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78aae0a24494a" /><Relationship Type="http://schemas.openxmlformats.org/officeDocument/2006/relationships/notesMaster" Target="/ppt/notesMasters/notesMaster1.xml" Id="R232f5147e33542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875eb5784b444d" /><Relationship Type="http://schemas.openxmlformats.org/officeDocument/2006/relationships/notesMaster" Target="/ppt/notesMasters/notesMaster1.xml" Id="Rc3a53707798c4d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ac38402bc4fd8" /><Relationship Type="http://schemas.openxmlformats.org/officeDocument/2006/relationships/notesMaster" Target="/ppt/notesMasters/notesMaster1.xml" Id="R4ce86548207046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851662c4a4e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1b2009b711444e" /><Relationship Type="http://schemas.openxmlformats.org/officeDocument/2006/relationships/slideLayout" Target="/ppt/slideLayouts/slideLayout2.xml" Id="R3195d7cfcb8d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95d7cfcb8d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500b3e21d54a71" /><Relationship Type="http://schemas.openxmlformats.org/officeDocument/2006/relationships/notesSlide" Target="/ppt/notesSlides/notesSlide1.xml" Id="R5f679272108249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eb41e4b5104fea" /><Relationship Type="http://schemas.openxmlformats.org/officeDocument/2006/relationships/notesSlide" Target="/ppt/notesSlides/notesSlide2.xml" Id="Rdea58d47214346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9c748a7854d93" /><Relationship Type="http://schemas.openxmlformats.org/officeDocument/2006/relationships/notesSlide" Target="/ppt/notesSlides/notesSlide3.xml" Id="Rcfd87f04e601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75b2a966a84bc4" /><Relationship Type="http://schemas.openxmlformats.org/officeDocument/2006/relationships/notesSlide" Target="/ppt/notesSlides/notesSlide4.xml" Id="R22e14f9097034d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2afa080b234dc8" /><Relationship Type="http://schemas.openxmlformats.org/officeDocument/2006/relationships/notesSlide" Target="/ppt/notesSlides/notesSlide5.xml" Id="Ra94624a22a2a4d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f1fd411fe418d" /><Relationship Type="http://schemas.openxmlformats.org/officeDocument/2006/relationships/notesSlide" Target="/ppt/notesSlides/notesSlide6.xml" Id="Rb067f2f99e7a4c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84681a39c4635" /><Relationship Type="http://schemas.openxmlformats.org/officeDocument/2006/relationships/notesSlide" Target="/ppt/notesSlides/notesSlide7.xml" Id="Rcf3e00f4c58b41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0CF3F0-2FFD-4601-B2CD-7720EBB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TELCO NETWORK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31E0A-4A4F-4EFC-B245-6A612BE0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Which towers should we upgrade, and why?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34EE7-50AC-4BF9-A093-135E78F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t>An outcome-led Marketplace story for Snowflake agents and RelationalAI ontologies.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53D86-29AE-423E-872E-63387FFE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t>The demo starts with the business decision: given everything we know about the network and a fixed budget, choose the best tower upgrades and explain the rationale.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FEDF4-4811-43B8-8FD6-1D83D66D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0287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74151"/>
                </a:solidFill>
              </a:defRPr>
            </a:pPr>
            <a:r>
              <a:t>Snowflake gives agents access to enterprise data. RelationalAI gives them an executable model of how the enterprise works.</a:t>
            </a:r>
          </a:p>
        </p:txBody>
      </p:sp>
    </p:spTree>
    <p:extLst>
      <p:ext uri="{BB962C8B-B14F-4D97-AF65-F5344CB8AC3E}">
        <p14:creationId xmlns:p14="http://schemas.microsoft.com/office/powerpoint/2010/main" val="11353546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6B55AF-3C6F-45FD-9479-2907F1FE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MARKETPLACE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4831B-B00A-4069-82B5-2D25001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Snowflake data becomes decisions through an executable ontology.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D936F-310A-4E10-8595-24F52F13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Snowflake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93F6F-9B4D-4F60-A3BE-E8B1700C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095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Towers, equipment, subscribers, calls, advisories, upgrade options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03613-41DA-4918-837B-E67A2388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RAI ontology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69E09-1B45-447C-8D17-DF600637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62200"/>
            <a:ext cx="2095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Concepts, relationships, rules, constraints, business semantics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F0C4C-5706-4528-B9CE-0EDFD94A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Decision reasoning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D9982-D53E-47B8-BD71-CC83B5F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2095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Prediction, rules, graph impact, optimization,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47CA0-48A2-40DE-93E5-1A8315AE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CoCo /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E3E59-BDE9-49F1-841E-2648BB8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095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Natural-language consumer of governed executable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44073-7691-4A5D-9A67-A86313BC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028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t>This is not Snowflake versus RelationalAI. It is a progression inside the same Snowflake-native working style.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4140D-1AD6-4D95-BF23-8D48C1C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10287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t>The agent stays thin because it calls governed executable business logic instead of recreating that logic in generated code.</a:t>
            </a:r>
          </a:p>
        </p:txBody>
      </p:sp>
    </p:spTree>
    <p:extLst>
      <p:ext uri="{BB962C8B-B14F-4D97-AF65-F5344CB8AC3E}">
        <p14:creationId xmlns:p14="http://schemas.microsoft.com/office/powerpoint/2010/main" val="1181319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FF219E-2089-46EE-A00A-5BF428B9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ONTOLOGY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2FD7F-CE8D-435F-B00F-9E6E46B7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The ontology is the connective tissue, not one feature among many.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7D196-3873-4C8B-A055-AFF0A061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Network assets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AC74B-722D-4468-A92C-C83E4E9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CellTower has installed NetworkEquipment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FAB40-790F-4859-8C6C-7EBFE5C0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NetworkEquipment has EquipmentModel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B2121-BD56-4B90-82F2-EE1B013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EquipmentModel has ModelAdvisory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E2BDB-F84C-4A59-B095-25CF9DD3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050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Operational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C7AA4-C490-4F65-84F1-E5BE4A2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EquipmentHealth measures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3C070-D68F-4712-BC58-94858298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NetworkPerformance measures tower 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3B349-CE4A-4449-B72F-5128CA9F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33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CallDetailRecord routes through towers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84451-24ED-49FC-AA3E-54A0D875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Decision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93E89-3BEB-468B-895F-381EF811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050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Subscriber value and churn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F23BA-F850-4CF3-95C9-D8DA63F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194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TowerUpgradeOption cost and capacity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82DDF-04FF-446E-A902-5E47A96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Budget and install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95FBA-93EA-4D89-BEAE-AB4F4EF1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t>Raw tables become an executable business model that reasoners and agents can consume.</a:t>
            </a:r>
          </a:p>
        </p:txBody>
      </p:sp>
    </p:spTree>
    <p:extLst>
      <p:ext uri="{BB962C8B-B14F-4D97-AF65-F5344CB8AC3E}">
        <p14:creationId xmlns:p14="http://schemas.microsoft.com/office/powerpoint/2010/main" val="7843034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6416A-B6B2-4A3C-8549-FA16841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BUSINESS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22963-73BC-46C2-B2C4-57239EE0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The question is not “show me a metric.” It asks for a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C4A94-7183-4D3F-9FFE-88F3B03B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28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74151"/>
                </a:solidFill>
              </a:defRPr>
            </a:pPr>
            <a:r>
              <a:t>Which towers should we upgrade within the $5M budget, and why?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7875A-53FB-49A7-ABC4-8D1986E7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Visible degradation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4D9CB-728B-4647-9F4C-DA29D36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1266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Tower status, packet loss, latency, health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8B1BC-9053-4B2F-8C60-7CFD73C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670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Hidden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18ED0-FE29-4B21-A81F-AC056B0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28950"/>
            <a:ext cx="2095500" cy="1266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Equipment that looks operational but sits on recalled or defective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91176-A434-413E-A498-390352AB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Customer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81FA6-EF80-47DA-B86F-0B678579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2095500" cy="1266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Subscriber value, churn risk, and call activity routed through towers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B65BE-51BA-4273-A298-B4C5EAC6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Feasibility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B09F0-AA84-48EB-A3CB-CD648B22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095500" cy="1266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Upgrade tiers, cost, restored capacity, crew weeks, and binding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DDBE7-0937-4202-B861-24EEE3E4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287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t>A semantic view can expose governed source metrics. The ontology supplies the relationships, rules, and reasoning needed to choose.</a:t>
            </a:r>
          </a:p>
        </p:txBody>
      </p:sp>
    </p:spTree>
    <p:extLst>
      <p:ext uri="{BB962C8B-B14F-4D97-AF65-F5344CB8AC3E}">
        <p14:creationId xmlns:p14="http://schemas.microsoft.com/office/powerpoint/2010/main" val="8137012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8434C-8FA9-413C-AF91-6D4FCE67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2D274-D0F4-43F8-BDED-96D3632A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RelationalAI applies the needed reasoning over one shared ontology.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FB520-55C7-4493-A697-F3CEC05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Predictive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BFBAF-614E-4997-91FF-5714A6E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095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Estimate equipment failure risk from health, tower context, and advisories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382F7-78B2-4E8A-B05C-B243C446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8B48B-1E9A-4CA6-ACB7-1E1E0B6F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62200"/>
            <a:ext cx="2095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Flag operationally critical towers from status, packet loss, and health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BFD13-AABD-4B2C-BD67-86445AE5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9A863-ACBC-46A6-A58A-076FEF69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2095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Measure customer impact from subscribers and call routing through towers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074FE-1F9C-4413-B31E-8BE12B0A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t>Optimization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1DBCE-EE2D-4D01-A0E1-DBAB4026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09550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t>Select tower-tier upgrades under budget and installation constraints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88D6D-5031-4E19-B73C-78DD852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10287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74151"/>
                </a:solidFill>
              </a:defRPr>
            </a:pPr>
            <a:r>
              <a:t>The important point is not that these are separate capabilities. The point is that they all operate over the same executable enterprise model.</a:t>
            </a:r>
          </a:p>
        </p:txBody>
      </p:sp>
    </p:spTree>
    <p:extLst>
      <p:ext uri="{BB962C8B-B14F-4D97-AF65-F5344CB8AC3E}">
        <p14:creationId xmlns:p14="http://schemas.microsoft.com/office/powerpoint/2010/main" val="93179093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9C415-78A4-4838-8968-AEB8B696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INSPECTION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494F6-723B-404B-BC44-1B61D2EE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A concrete ontology question: which recalled equipment is still active?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525DF-DB9A-4AD3-AF92-8E5AAF26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10287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t>The query joins equipment -&gt; model -&gt; advisory, filters to RECALL advisories and OPERATIONAL equipment, then returns equipment, tower, and recall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55610-6982-464C-9746-8AF475E2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457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Result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1E444-07A9-435E-8B21-2C8CF31D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19 operational equipment items affected by recalls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22475-1E31-459D-AE1C-EFFD5A0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Cisco RTR-A2: severity 0.95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E3495-A6E7-4437-BAFB-BF6B641B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Mediatek TRX-H1: severity 0.75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078E-0F86-4D69-958E-F718AE9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38450"/>
            <a:ext cx="457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Why this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2BFC2-944C-409E-83FE-59658063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385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Not a text lookup over one table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3F3F5-23BD-499C-A5C1-84572CA1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95700"/>
            <a:ext cx="447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Uses model relationships across assets, advisories, and towers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4DFB7-5F14-4409-80C9-64BAAB66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100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Grounds agent answers in governed ontology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FABE1-C38A-49AF-A6D5-6E70129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74151"/>
                </a:solidFill>
              </a:defRPr>
            </a:pPr>
            <a:r>
              <a:t>The ontology knows how equipment, models, advisories, and towers relate, so the agent can answer the operational question directly.</a:t>
            </a:r>
          </a:p>
        </p:txBody>
      </p:sp>
    </p:spTree>
    <p:extLst>
      <p:ext uri="{BB962C8B-B14F-4D97-AF65-F5344CB8AC3E}">
        <p14:creationId xmlns:p14="http://schemas.microsoft.com/office/powerpoint/2010/main" val="2847363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D8FD8-D48C-4DB0-A01B-6263FA6A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t>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FEA66-3A75-4B7C-916B-5CD83347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0287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t>The output is a feasible upgrade decision, not a ranked list.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E9E3F-D925-49A3-8EAF-A96AA615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Decision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23B69-18C1-4DF0-9CF6-01EA92B0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Selected tower-tier upgrades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F5D14-F151-492A-B604-2E2D5A2A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Total cost, restored capacity, install weeks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CA98E-D3D6-4C74-92FF-B890584C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194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Binding constraint and rationale tags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6513B-B4E3-4FC9-80EA-A752DCC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0500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/>
            </a:pPr>
            <a:r>
              <a:t>Agent follow-ups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AD94A-415F-41B8-8004-42144714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Why was this tower selected?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3B3A7-EDE2-4199-AA3B-3264C6EB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What recalled equipment is still active?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6B500-B141-4650-AFF9-3C681754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1945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74151"/>
                </a:solidFill>
              </a:defRPr>
            </a:pPr>
            <a:r>
              <a:t>• Where do we correct the model if policy changes?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2322E-4133-41E8-9970-0184790D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1028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374151"/>
                </a:solidFill>
              </a:defRPr>
            </a:pPr>
            <a:r>
              <a:t>Snowflake gives agents access to enterprise data. RelationalAI gives them an executable model of the enterprise.</a:t>
            </a:r>
          </a:p>
        </p:txBody>
      </p:sp>
    </p:spTree>
    <p:extLst>
      <p:ext uri="{BB962C8B-B14F-4D97-AF65-F5344CB8AC3E}">
        <p14:creationId xmlns:p14="http://schemas.microsoft.com/office/powerpoint/2010/main" val="955268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2026-10-14T00:10:34.9430000Z</dcterms:created>
  <dcterms:modified xsi:type="dcterms:W3CDTF">2026-10-14T00:10:34.9430000Z</dcterms:modified>
</coreProperties>
</file>